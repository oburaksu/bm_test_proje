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Bulut Mimarilerinde Test Mühendisliği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834640"/>
            <a:ext cx="45720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9B4FA"/>
                </a:solidFill>
              </a:defRPr>
            </a:pPr>
            <a:r>
              <a:t>Dönem Projesi: To-Do List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DD6F4"/>
                </a:solidFill>
              </a:defRPr>
            </a:pPr>
            <a:r>
              <a:t>Hazırlayan: </a:t>
            </a:r>
            <a:r>
              <a:rPr lang="tr-TR"/>
              <a:t>Onur Burak Su - 170422505</a:t>
            </a:r>
            <a:br/>
            <a:r>
              <a:t>Marmara Üniversitesi  •  Bilgisayar Mühendisliği  •  </a:t>
            </a:r>
            <a:r>
              <a:rPr lang="tr-TR"/>
              <a:t>17 </a:t>
            </a:r>
            <a:r>
              <a:t>Mayıs 2026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2430125" y="42900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&amp; Çözüm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❌  Problem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Modern yazılımda test, dağıtım ve izleme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süreçlerinin manuel ve hataya açık olması.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✅  Çözüm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Basit ama kapsayıcı bir uygulama üzerinden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endüstri standardında test ve dağıtım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altyapısı kurmak.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📋  To-Do List Manager API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CRUD + Etiketleme + Yedekleme (S3)</a:t>
            </a:r>
          </a:p>
        </p:txBody>
      </p:sp>
      <p:pic>
        <p:nvPicPr>
          <p:cNvPr id="5" name="Picture 4" descr="architecture_diagram_177902929439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Mimari Diyagram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Backend: Python FastAPI (3 Katmanlı)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DB: SQLite (dev) + PostgreSQL (test)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ORM: SQLAlchemy 2.0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AWS: LocalStack S3 Yedekleme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Container: Multi-Stage Dockerfile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Orkestrasyon: Kubernetes (Minikube)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İzleme: Prometheus + Grafana</a:t>
            </a:r>
          </a:p>
        </p:txBody>
      </p:sp>
      <p:pic>
        <p:nvPicPr>
          <p:cNvPr id="5" name="Picture 4" descr="architecture_diagram_177902929439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8016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Test Stratejisi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Test Piramidi yaklaşımı uygulandı.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🔹 Unit Tests: Pytest + Factory Boy + Faker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🔹 Integration: Testcontainers (PostgreSQL)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🔹 E2E: Playwright (tarayıcı otomasyonu)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🔹 API: Postman + Newman (11 assertion)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🔹 Performans: k6 yük testi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Hedef: %70  →  Sonuç: %83 Coverage ✅</a:t>
            </a:r>
          </a:p>
        </p:txBody>
      </p:sp>
      <p:pic>
        <p:nvPicPr>
          <p:cNvPr id="5" name="Picture 4" descr="test_pyramid_177903171297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8872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Birim &amp; Entegrasyon Testleri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Birim Testler (Unit)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Service ve Route katmanları izole test edildi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Factory Boy ile dinamik test verisi üretildi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Her testte DB sıfırlanarak izolasyon sağlandı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Entegrasyon Testleri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Testcontainers ile gerçek PostgreSQL ayağa kalkar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ORM CRUD işlemleri gerçek DB üzerinde doğrulanır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Docker kapalıysa pytest.skip ile atlama yapılır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Kapsam Raporu (Coverage)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─────────────────────────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main.py              95%  ✅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task_routes.py     96%  ✅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task_service.py   81%  ✅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task.py (model)  87%  ✅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schemas/task.py 100% ✅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─────────────────────────</a:t>
            </a:r>
          </a:p>
          <a:p>
            <a:pPr>
              <a:spcAft>
                <a:spcPts val="600"/>
              </a:spcAft>
              <a:defRPr sz="1600">
                <a:solidFill>
                  <a:srgbClr val="A6E3A1"/>
                </a:solidFill>
              </a:defRPr>
            </a:pPr>
            <a:r>
              <a:t>TOPLAM:             %83 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E2E &amp; API Testleri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E2E Testleri (Playwright)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Statik HTML arayüz /ui üzerinden sunuldu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Görev Ekleme → DOM'a düşme doğrulandı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Tamamla butonu → Durum değişimi test edildi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Sil butonu → DOM'dan kalkma doğrulandı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API Testleri (Postman + Newman)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6 API isteği ve 11 assertion içeren koleksiyon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Dinamik veri aktarımı (task_id değişkeni)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npm run test:api ile CI'da otomatik koşulur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CI/CD Pipeline (GitHub Actions)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cd_pipeline_177903172997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0515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1️⃣ Lint (flake8)  →  2️⃣ Pytest  →  3️⃣ Docker Build  →  4️⃣ Deploy (sim.)  →  5️⃣ Smoke Test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Her push/PR ile otomatik tetiklenir  •  Tüm adımlar geçmeden merge yapılamaz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Container &amp;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Docker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Multi-stage build (güvenlik + boyut)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docker-compose ile tüm servisler ayağa kalkar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Kubernetes (Minikube)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ConfigMap: Ortam değişkenleri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Deployment: Liveness/Readiness probes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Service: NodePort ile dış erişim</a:t>
            </a:r>
          </a:p>
        </p:txBody>
      </p:sp>
      <p:pic>
        <p:nvPicPr>
          <p:cNvPr id="5" name="Picture 4" descr="kubernetes_deploy_17790317434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18872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Monitoring &amp;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1148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prometheus-fastapi-instrumentator ile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/metrics endpoint'i aktif edildi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Prometheus ile periyodik veri toplama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▸ Grafana Dashboard (4 Panel):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• Throughput (İstek/sn)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• Latency (Yanıt süresi)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• Error Rate (Hata oranı)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• Toplam İstek Sayısı</a:t>
            </a:r>
          </a:p>
        </p:txBody>
      </p:sp>
      <p:pic>
        <p:nvPicPr>
          <p:cNvPr id="5" name="Picture 4" descr="monitoring_stack_177903175476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872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Performans &amp; Sayılarla Proje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1148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k6 Yük Testi Senaryosu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10sn warm-up → 20 VU → 30sn tepe → cool-down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Hedef p95 Latency: &lt; 500ms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• Hedef Hata Oranı: &lt; %1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Sayılarla Proje Özeti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━━━━━━━━━━━━━━━━━━━━━━━━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🔸 REST API Endpoint:         10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🔸 Kod Kapsamı (Coverage):  %83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🔸 Postman Assertions:        11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🔸 CI/CD Pipeline Adımı:       5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🔸 Grafana Panel Sayısı:        4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🔸 K8s Manifest Dosyası:       3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🔸 Entity (Task + Tag):           2</a:t>
            </a:r>
          </a:p>
          <a:p>
            <a:pPr>
              <a:spcAft>
                <a:spcPts val="600"/>
              </a:spcAft>
              <a:defRPr sz="1700">
                <a:solidFill>
                  <a:srgbClr val="A6E3A1"/>
                </a:solidFill>
              </a:defRPr>
            </a:pPr>
            <a:r>
              <a:t>━━━━━━━━━━━━━━━━━━━━━━━━</a:t>
            </a:r>
          </a:p>
        </p:txBody>
      </p:sp>
      <p:pic>
        <p:nvPicPr>
          <p:cNvPr id="6" name="Picture 5" descr="test_pyramid_177903171297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Öğrendiklerim &amp; Zorluklar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1148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Karşılaşılan Zorluklar: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1️⃣ Test İzolasyonu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Testler arası durum sızıntısı → conftest.py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içinde her test öncesi DB sıfırlama uygulandı.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2️⃣ Ortam Değişkenleri Güvenliği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.env dosyası yerine K8s ConfigMap kullanıldı.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3️⃣ Docker + Testcontainers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Windows'ta Docker erişim sorunları →</a:t>
            </a:r>
          </a:p>
          <a:p>
            <a:pPr>
              <a:spcAft>
                <a:spcPts val="600"/>
              </a:spcAft>
              <a:defRPr sz="1800">
                <a:solidFill>
                  <a:srgbClr val="CDD6F4"/>
                </a:solidFill>
              </a:defRPr>
            </a:pPr>
            <a:r>
              <a:t>   try-except ile graceful fallback sağlandı.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Öğrenilen Dersler: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✅ Kod yazmak işin sadece yarısı;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    test, dağıtım ve izleme altyapısı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    profesyonel yazılımın can damarıdır.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✅ CI/CD pipeline sayesinde hatalar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    üretime çıkmadan yakalanır.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✅ Kubernetes ve Docker ile ortamlar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    arası tutarlılık garantilenir.</a:t>
            </a: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89B4FA"/>
                </a:solidFill>
              </a:defRPr>
            </a:pPr>
            <a:r>
              <a:t>Teşekkürler! — Soru &amp; Cevap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3761</Words>
  <Application>WPS Presentation</Application>
  <PresentationFormat>On-screen Show (4:3)</PresentationFormat>
  <Paragraphs>154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Burak Su</cp:lastModifiedBy>
  <cp:revision>2</cp:revision>
  <dcterms:created xsi:type="dcterms:W3CDTF">2013-01-27T09:14:00Z</dcterms:created>
  <dcterms:modified xsi:type="dcterms:W3CDTF">2026-05-17T15:34:25Z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9C2FD103BF1741E69993350A3BDAA84A_12</vt:lpwstr>
  </property>
  <property fmtid="{D5CDD505-2E9C-101B-9397-08002B2CF9AE}" pid="3" name="KSOProductBuildVer">
    <vt:lpwstr>1033-12.2.0.22549</vt:lpwstr>
  </property>
</Properties>
</file>